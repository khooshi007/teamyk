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Ledgerly helps small businesses create GST invoices, get paid by UPI, and stay on top of overdue accounts. Over the next few minutes I'll show the problem, the product, and what we built with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owners didn't start a business to chase invoices. Records are scattered, payments are hard to match, and reminders are the task everyone puts off. That's the gap we set out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runs on the same data, so nothing is typed twice. When a due date passes, the invoice moves up the list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 is calculated from the GST rate you choose. The invoice on screen is a sample. For unusual tax cases, a qualified accountant should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does the typing for the customer. We never mark a payment as received until the business records it, so the app never shows money that hasn't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works like a colleague who has read your invoices. It explains things in plain language and drafts messages for you to review. It can't send anything or change records. The watchlist shows reference details; we chose not to show made-up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The live demo is on screen, and you're welcome to log in and try invoicing, UPI links and the Claude assistant yourselves. We would love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mnt/user-data/outputs/ledgerly-icon.png">    </p:cNvPr>
          <p:cNvPicPr>
            <a:picLocks noChangeAspect="1"/>
          </p:cNvPicPr>
          <p:nvPr/>
        </p:nvPicPr>
        <p:blipFill>
          <a:blip r:embed="rId2"/>
          <a:stretch>
            <a:fillRect/>
          </a:stretch>
        </p:blipFill>
        <p:spPr>
          <a:xfrm>
            <a:off x="822960" y="1828800"/>
            <a:ext cx="1737360" cy="1737360"/>
          </a:xfrm>
          <a:prstGeom prst="rect">
            <a:avLst/>
          </a:prstGeom>
        </p:spPr>
      </p:pic>
      <p:sp>
        <p:nvSpPr>
          <p:cNvPr id="3" name="Text 0"/>
          <p:cNvSpPr txBox="1"/>
          <p:nvPr/>
        </p:nvSpPr>
        <p:spPr>
          <a:xfrm>
            <a:off x="2926080" y="1874520"/>
            <a:ext cx="8229600" cy="164592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ledgerly</a:t>
            </a:r>
            <a:endParaRPr lang="en-US" sz="8000" dirty="0"/>
          </a:p>
        </p:txBody>
      </p:sp>
      <p:sp>
        <p:nvSpPr>
          <p:cNvPr id="4" name="Text 1"/>
          <p:cNvSpPr txBox="1"/>
          <p:nvPr/>
        </p:nvSpPr>
        <p:spPr>
          <a:xfrm>
            <a:off x="822960" y="3886200"/>
            <a:ext cx="10058400" cy="548640"/>
          </a:xfrm>
          <a:prstGeom prst="rect">
            <a:avLst/>
          </a:prstGeom>
          <a:noFill/>
          <a:ln/>
        </p:spPr>
        <p:txBody>
          <a:bodyPr wrap="square" lIns="0" tIns="0" rIns="0" bIns="0" rtlCol="0" anchor="t"/>
          <a:lstStyle/>
          <a:p>
            <a:pPr indent="0" marL="0">
              <a:buNone/>
            </a:pPr>
            <a:r>
              <a:rPr lang="en-US" sz="2600" dirty="0">
                <a:solidFill>
                  <a:srgbClr val="C9D6F2"/>
                </a:solidFill>
                <a:latin typeface="Calibri" pitchFamily="34" charset="0"/>
                <a:ea typeface="Calibri" pitchFamily="34" charset="-122"/>
                <a:cs typeface="Calibri" pitchFamily="34" charset="-120"/>
              </a:rPr>
              <a:t>Get paid on time. Without the awkward follow-ups.</a:t>
            </a:r>
            <a:endParaRPr lang="en-US" sz="2600" dirty="0"/>
          </a:p>
        </p:txBody>
      </p:sp>
      <p:sp>
        <p:nvSpPr>
          <p:cNvPr id="5" name="Shape 2"/>
          <p:cNvSpPr/>
          <p:nvPr/>
        </p:nvSpPr>
        <p:spPr>
          <a:xfrm>
            <a:off x="822960" y="4892040"/>
            <a:ext cx="1874520" cy="475488"/>
          </a:xfrm>
          <a:prstGeom prst="roundRect">
            <a:avLst>
              <a:gd name="adj" fmla="val 50000"/>
            </a:avLst>
          </a:prstGeom>
          <a:solidFill>
            <a:srgbClr val="FFFFFF">
              <a:alpha val="12000"/>
            </a:srgbClr>
          </a:solidFill>
          <a:ln w="9525">
            <a:solidFill>
              <a:srgbClr val="C9D6F2"/>
            </a:solidFill>
            <a:prstDash val="solid"/>
          </a:ln>
        </p:spPr>
      </p:sp>
      <p:sp>
        <p:nvSpPr>
          <p:cNvPr id="6" name="Text 3"/>
          <p:cNvSpPr txBox="1"/>
          <p:nvPr/>
        </p:nvSpPr>
        <p:spPr>
          <a:xfrm>
            <a:off x="822960" y="4892040"/>
            <a:ext cx="1874520" cy="47548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GST invoicing</a:t>
            </a:r>
            <a:endParaRPr lang="en-US" sz="1400" dirty="0"/>
          </a:p>
        </p:txBody>
      </p:sp>
      <p:sp>
        <p:nvSpPr>
          <p:cNvPr id="7" name="Shape 4"/>
          <p:cNvSpPr/>
          <p:nvPr/>
        </p:nvSpPr>
        <p:spPr>
          <a:xfrm>
            <a:off x="2971800" y="4892040"/>
            <a:ext cx="2057400" cy="475488"/>
          </a:xfrm>
          <a:prstGeom prst="roundRect">
            <a:avLst>
              <a:gd name="adj" fmla="val 50000"/>
            </a:avLst>
          </a:prstGeom>
          <a:solidFill>
            <a:srgbClr val="FFFFFF">
              <a:alpha val="12000"/>
            </a:srgbClr>
          </a:solidFill>
          <a:ln w="9525">
            <a:solidFill>
              <a:srgbClr val="C9D6F2"/>
            </a:solidFill>
            <a:prstDash val="solid"/>
          </a:ln>
        </p:spPr>
      </p:sp>
      <p:sp>
        <p:nvSpPr>
          <p:cNvPr id="8" name="Text 5"/>
          <p:cNvSpPr txBox="1"/>
          <p:nvPr/>
        </p:nvSpPr>
        <p:spPr>
          <a:xfrm>
            <a:off x="2971800" y="4892040"/>
            <a:ext cx="2057400" cy="47548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UPI payments</a:t>
            </a:r>
            <a:endParaRPr lang="en-US" sz="1400" dirty="0"/>
          </a:p>
        </p:txBody>
      </p:sp>
      <p:sp>
        <p:nvSpPr>
          <p:cNvPr id="9" name="Shape 6"/>
          <p:cNvSpPr/>
          <p:nvPr/>
        </p:nvSpPr>
        <p:spPr>
          <a:xfrm>
            <a:off x="5394960" y="4892040"/>
            <a:ext cx="2057400" cy="475488"/>
          </a:xfrm>
          <a:prstGeom prst="roundRect">
            <a:avLst>
              <a:gd name="adj" fmla="val 50000"/>
            </a:avLst>
          </a:prstGeom>
          <a:solidFill>
            <a:srgbClr val="FFFFFF">
              <a:alpha val="12000"/>
            </a:srgbClr>
          </a:solidFill>
          <a:ln w="9525">
            <a:solidFill>
              <a:srgbClr val="C9D6F2"/>
            </a:solidFill>
            <a:prstDash val="solid"/>
          </a:ln>
        </p:spPr>
      </p:sp>
      <p:sp>
        <p:nvSpPr>
          <p:cNvPr id="10" name="Text 7"/>
          <p:cNvSpPr txBox="1"/>
          <p:nvPr/>
        </p:nvSpPr>
        <p:spPr>
          <a:xfrm>
            <a:off x="5394960" y="4892040"/>
            <a:ext cx="2057400" cy="47548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Claude AI assistant</a:t>
            </a:r>
            <a:endParaRPr lang="en-US" sz="1400" dirty="0"/>
          </a:p>
        </p:txBody>
      </p:sp>
      <p:sp>
        <p:nvSpPr>
          <p:cNvPr id="11" name="Shape 8"/>
          <p:cNvSpPr/>
          <p:nvPr/>
        </p:nvSpPr>
        <p:spPr>
          <a:xfrm>
            <a:off x="7772400" y="4892040"/>
            <a:ext cx="2148840" cy="475488"/>
          </a:xfrm>
          <a:prstGeom prst="roundRect">
            <a:avLst>
              <a:gd name="adj" fmla="val 50000"/>
            </a:avLst>
          </a:prstGeom>
          <a:solidFill>
            <a:srgbClr val="FFFFFF">
              <a:alpha val="12000"/>
            </a:srgbClr>
          </a:solidFill>
          <a:ln w="9525">
            <a:solidFill>
              <a:srgbClr val="C9D6F2"/>
            </a:solidFill>
            <a:prstDash val="solid"/>
          </a:ln>
        </p:spPr>
      </p:sp>
      <p:sp>
        <p:nvSpPr>
          <p:cNvPr id="12" name="Text 9"/>
          <p:cNvSpPr txBox="1"/>
          <p:nvPr/>
        </p:nvSpPr>
        <p:spPr>
          <a:xfrm>
            <a:off x="7772400" y="4892040"/>
            <a:ext cx="2148840" cy="47548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NSE &amp; BSE watchlist</a:t>
            </a:r>
            <a:endParaRPr lang="en-US" sz="1400" dirty="0"/>
          </a:p>
        </p:txBody>
      </p:sp>
      <p:sp>
        <p:nvSpPr>
          <p:cNvPr id="13" name="Text 10"/>
          <p:cNvSpPr txBox="1"/>
          <p:nvPr/>
        </p:nvSpPr>
        <p:spPr>
          <a:xfrm>
            <a:off x="822960" y="6035040"/>
            <a:ext cx="9144000" cy="365760"/>
          </a:xfrm>
          <a:prstGeom prst="rect">
            <a:avLst/>
          </a:prstGeom>
          <a:noFill/>
          <a:ln/>
        </p:spPr>
        <p:txBody>
          <a:bodyPr wrap="square" lIns="0" tIns="0" rIns="0" bIns="0" rtlCol="0" anchor="t"/>
          <a:lstStyle/>
          <a:p>
            <a:pPr indent="0" marL="0">
              <a:buNone/>
            </a:pPr>
            <a:r>
              <a:rPr lang="en-US" sz="1400" dirty="0">
                <a:solidFill>
                  <a:srgbClr val="C9D6F2"/>
                </a:solidFill>
                <a:latin typeface="Calibri" pitchFamily="34" charset="0"/>
                <a:ea typeface="Calibri" pitchFamily="34" charset="-122"/>
                <a:cs typeface="Calibri" pitchFamily="34" charset="-120"/>
              </a:rPr>
              <a:t>Hackathon presentation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274320"/>
          </a:xfrm>
          <a:prstGeom prst="rect">
            <a:avLst/>
          </a:prstGeom>
          <a:noFill/>
          <a:ln/>
        </p:spPr>
        <p:txBody>
          <a:bodyPr wrap="square" lIns="0" tIns="0" rIns="0" bIns="0" rtlCol="0" anchor="ctr"/>
          <a:lstStyle/>
          <a:p>
            <a:pPr indent="0" marL="0">
              <a:buNone/>
            </a:pPr>
            <a:r>
              <a:rPr lang="en-US" sz="1400" b="1" spc="200" kern="0" dirty="0">
                <a:solidFill>
                  <a:srgbClr val="315FBC"/>
                </a:solidFill>
                <a:latin typeface="Calibri" pitchFamily="34" charset="0"/>
                <a:ea typeface="Calibri" pitchFamily="34" charset="-122"/>
                <a:cs typeface="Calibri" pitchFamily="34" charset="-120"/>
              </a:rPr>
              <a:t>THE PROBLEM</a:t>
            </a:r>
            <a:endParaRPr lang="en-US" sz="1400" dirty="0"/>
          </a:p>
        </p:txBody>
      </p:sp>
      <p:sp>
        <p:nvSpPr>
          <p:cNvPr id="3" name="Text 1"/>
          <p:cNvSpPr txBox="1"/>
          <p:nvPr/>
        </p:nvSpPr>
        <p:spPr>
          <a:xfrm>
            <a:off x="640080" y="777240"/>
            <a:ext cx="10972800" cy="822960"/>
          </a:xfrm>
          <a:prstGeom prst="rect">
            <a:avLst/>
          </a:prstGeom>
          <a:noFill/>
          <a:ln/>
        </p:spPr>
        <p:txBody>
          <a:bodyPr wrap="square" lIns="0" tIns="0" rIns="0" bIns="0" rtlCol="0" anchor="t"/>
          <a:lstStyle/>
          <a:p>
            <a:pPr indent="0" marL="0">
              <a:buNone/>
            </a:pPr>
            <a:r>
              <a:rPr lang="en-US" sz="3800" b="1" dirty="0">
                <a:solidFill>
                  <a:srgbClr val="1C2A40"/>
                </a:solidFill>
                <a:latin typeface="Cambria" pitchFamily="34" charset="0"/>
                <a:ea typeface="Cambria" pitchFamily="34" charset="-122"/>
                <a:cs typeface="Cambria" pitchFamily="34" charset="-120"/>
              </a:rPr>
              <a:t>Small businesses lose time and money chasing payments</a:t>
            </a:r>
            <a:endParaRPr lang="en-US" sz="3800" dirty="0"/>
          </a:p>
        </p:txBody>
      </p:sp>
      <p:sp>
        <p:nvSpPr>
          <p:cNvPr id="4" name="Shape 2"/>
          <p:cNvSpPr/>
          <p:nvPr/>
        </p:nvSpPr>
        <p:spPr>
          <a:xfrm>
            <a:off x="640080" y="1920240"/>
            <a:ext cx="3520440" cy="3566160"/>
          </a:xfrm>
          <a:prstGeom prst="roundRect">
            <a:avLst>
              <a:gd name="adj" fmla="val 3896"/>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5" name="Shape 3"/>
          <p:cNvSpPr/>
          <p:nvPr/>
        </p:nvSpPr>
        <p:spPr>
          <a:xfrm>
            <a:off x="1005840" y="2286000"/>
            <a:ext cx="548640" cy="548640"/>
          </a:xfrm>
          <a:prstGeom prst="ellipse">
            <a:avLst/>
          </a:prstGeom>
          <a:solidFill>
            <a:srgbClr val="315FBC"/>
          </a:solidFill>
          <a:ln w="12700">
            <a:solidFill>
              <a:srgbClr val="315FBC"/>
            </a:solidFill>
            <a:prstDash val="solid"/>
          </a:ln>
        </p:spPr>
      </p:sp>
      <p:sp>
        <p:nvSpPr>
          <p:cNvPr id="6" name="Text 4"/>
          <p:cNvSpPr txBox="1"/>
          <p:nvPr/>
        </p:nvSpPr>
        <p:spPr>
          <a:xfrm>
            <a:off x="100584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005840" y="3108960"/>
            <a:ext cx="2834640" cy="640080"/>
          </a:xfrm>
          <a:prstGeom prst="rect">
            <a:avLst/>
          </a:prstGeom>
          <a:noFill/>
          <a:ln/>
        </p:spPr>
        <p:txBody>
          <a:bodyPr wrap="square" lIns="0" tIns="0" rIns="0" bIns="0" rtlCol="0" anchor="t"/>
          <a:lstStyle/>
          <a:p>
            <a:pPr indent="0" marL="0">
              <a:buNone/>
            </a:pPr>
            <a:r>
              <a:rPr lang="en-US" sz="2100" b="1" dirty="0">
                <a:solidFill>
                  <a:srgbClr val="1C2A40"/>
                </a:solidFill>
                <a:latin typeface="Cambria" pitchFamily="34" charset="0"/>
                <a:ea typeface="Cambria" pitchFamily="34" charset="-122"/>
                <a:cs typeface="Cambria" pitchFamily="34" charset="-120"/>
              </a:rPr>
              <a:t>Scattered records</a:t>
            </a:r>
            <a:endParaRPr lang="en-US" sz="2100" dirty="0"/>
          </a:p>
        </p:txBody>
      </p:sp>
      <p:sp>
        <p:nvSpPr>
          <p:cNvPr id="8" name="Text 6"/>
          <p:cNvSpPr txBox="1"/>
          <p:nvPr/>
        </p:nvSpPr>
        <p:spPr>
          <a:xfrm>
            <a:off x="1005840" y="4023360"/>
            <a:ext cx="2834640" cy="137160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Invoice numbers, totals and due dates live in notebooks, files and inboxes. Small slips add up.</a:t>
            </a:r>
            <a:endParaRPr lang="en-US" sz="1600" dirty="0"/>
          </a:p>
        </p:txBody>
      </p:sp>
      <p:sp>
        <p:nvSpPr>
          <p:cNvPr id="9" name="Shape 7"/>
          <p:cNvSpPr/>
          <p:nvPr/>
        </p:nvSpPr>
        <p:spPr>
          <a:xfrm>
            <a:off x="4434840" y="1920240"/>
            <a:ext cx="3520440" cy="3566160"/>
          </a:xfrm>
          <a:prstGeom prst="roundRect">
            <a:avLst>
              <a:gd name="adj" fmla="val 3896"/>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10" name="Shape 8"/>
          <p:cNvSpPr/>
          <p:nvPr/>
        </p:nvSpPr>
        <p:spPr>
          <a:xfrm>
            <a:off x="4800600" y="2286000"/>
            <a:ext cx="548640" cy="548640"/>
          </a:xfrm>
          <a:prstGeom prst="ellipse">
            <a:avLst/>
          </a:prstGeom>
          <a:solidFill>
            <a:srgbClr val="315FBC"/>
          </a:solidFill>
          <a:ln w="12700">
            <a:solidFill>
              <a:srgbClr val="315FBC"/>
            </a:solidFill>
            <a:prstDash val="solid"/>
          </a:ln>
        </p:spPr>
      </p:sp>
      <p:sp>
        <p:nvSpPr>
          <p:cNvPr id="11" name="Text 9"/>
          <p:cNvSpPr txBox="1"/>
          <p:nvPr/>
        </p:nvSpPr>
        <p:spPr>
          <a:xfrm>
            <a:off x="480060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800600" y="3108960"/>
            <a:ext cx="2834640" cy="640080"/>
          </a:xfrm>
          <a:prstGeom prst="rect">
            <a:avLst/>
          </a:prstGeom>
          <a:noFill/>
          <a:ln/>
        </p:spPr>
        <p:txBody>
          <a:bodyPr wrap="square" lIns="0" tIns="0" rIns="0" bIns="0" rtlCol="0" anchor="t"/>
          <a:lstStyle/>
          <a:p>
            <a:pPr indent="0" marL="0">
              <a:buNone/>
            </a:pPr>
            <a:r>
              <a:rPr lang="en-US" sz="2100" b="1" dirty="0">
                <a:solidFill>
                  <a:srgbClr val="1C2A40"/>
                </a:solidFill>
                <a:latin typeface="Cambria" pitchFamily="34" charset="0"/>
                <a:ea typeface="Cambria" pitchFamily="34" charset="-122"/>
                <a:cs typeface="Cambria" pitchFamily="34" charset="-120"/>
              </a:rPr>
              <a:t>Unclear payments</a:t>
            </a:r>
            <a:endParaRPr lang="en-US" sz="2100" dirty="0"/>
          </a:p>
        </p:txBody>
      </p:sp>
      <p:sp>
        <p:nvSpPr>
          <p:cNvPr id="13" name="Text 11"/>
          <p:cNvSpPr txBox="1"/>
          <p:nvPr/>
        </p:nvSpPr>
        <p:spPr>
          <a:xfrm>
            <a:off x="4800600" y="4023360"/>
            <a:ext cx="2834640" cy="137160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Money arrives without clear references, so working out who paid what takes hours.</a:t>
            </a:r>
            <a:endParaRPr lang="en-US" sz="1600" dirty="0"/>
          </a:p>
        </p:txBody>
      </p:sp>
      <p:sp>
        <p:nvSpPr>
          <p:cNvPr id="14" name="Shape 12"/>
          <p:cNvSpPr/>
          <p:nvPr/>
        </p:nvSpPr>
        <p:spPr>
          <a:xfrm>
            <a:off x="8229600" y="1920240"/>
            <a:ext cx="3520440" cy="3566160"/>
          </a:xfrm>
          <a:prstGeom prst="roundRect">
            <a:avLst>
              <a:gd name="adj" fmla="val 3896"/>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15" name="Shape 13"/>
          <p:cNvSpPr/>
          <p:nvPr/>
        </p:nvSpPr>
        <p:spPr>
          <a:xfrm>
            <a:off x="8595360" y="2286000"/>
            <a:ext cx="548640" cy="548640"/>
          </a:xfrm>
          <a:prstGeom prst="ellipse">
            <a:avLst/>
          </a:prstGeom>
          <a:solidFill>
            <a:srgbClr val="315FBC"/>
          </a:solidFill>
          <a:ln w="12700">
            <a:solidFill>
              <a:srgbClr val="315FBC"/>
            </a:solidFill>
            <a:prstDash val="solid"/>
          </a:ln>
        </p:spPr>
      </p:sp>
      <p:sp>
        <p:nvSpPr>
          <p:cNvPr id="16" name="Text 14"/>
          <p:cNvSpPr txBox="1"/>
          <p:nvPr/>
        </p:nvSpPr>
        <p:spPr>
          <a:xfrm>
            <a:off x="859536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595360" y="3108960"/>
            <a:ext cx="2834640" cy="640080"/>
          </a:xfrm>
          <a:prstGeom prst="rect">
            <a:avLst/>
          </a:prstGeom>
          <a:noFill/>
          <a:ln/>
        </p:spPr>
        <p:txBody>
          <a:bodyPr wrap="square" lIns="0" tIns="0" rIns="0" bIns="0" rtlCol="0" anchor="t"/>
          <a:lstStyle/>
          <a:p>
            <a:pPr indent="0" marL="0">
              <a:buNone/>
            </a:pPr>
            <a:r>
              <a:rPr lang="en-US" sz="2100" b="1" dirty="0">
                <a:solidFill>
                  <a:srgbClr val="1C2A40"/>
                </a:solidFill>
                <a:latin typeface="Cambria" pitchFamily="34" charset="0"/>
                <a:ea typeface="Cambria" pitchFamily="34" charset="-122"/>
                <a:cs typeface="Cambria" pitchFamily="34" charset="-120"/>
              </a:rPr>
              <a:t>Awkward follow-ups</a:t>
            </a:r>
            <a:endParaRPr lang="en-US" sz="2100" dirty="0"/>
          </a:p>
        </p:txBody>
      </p:sp>
      <p:sp>
        <p:nvSpPr>
          <p:cNvPr id="18" name="Text 16"/>
          <p:cNvSpPr txBox="1"/>
          <p:nvPr/>
        </p:nvSpPr>
        <p:spPr>
          <a:xfrm>
            <a:off x="8595360" y="4023360"/>
            <a:ext cx="2834640" cy="137160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Reminders get delayed and overdue accounts quietly slip, because nobody wants to ask.</a:t>
            </a:r>
            <a:endParaRPr lang="en-US" sz="1600" dirty="0"/>
          </a:p>
        </p:txBody>
      </p:sp>
      <p:sp>
        <p:nvSpPr>
          <p:cNvPr id="19" name="Text 17"/>
          <p:cNvSpPr txBox="1"/>
          <p:nvPr/>
        </p:nvSpPr>
        <p:spPr>
          <a:xfrm>
            <a:off x="640080" y="5715000"/>
            <a:ext cx="10972800" cy="457200"/>
          </a:xfrm>
          <a:prstGeom prst="rect">
            <a:avLst/>
          </a:prstGeom>
          <a:noFill/>
          <a:ln/>
        </p:spPr>
        <p:txBody>
          <a:bodyPr wrap="square" lIns="0" tIns="0" rIns="0" bIns="0" rtlCol="0" anchor="t"/>
          <a:lstStyle/>
          <a:p>
            <a:pPr indent="0" marL="0">
              <a:buNone/>
            </a:pPr>
            <a:r>
              <a:rPr lang="en-US" sz="1800" b="1" dirty="0">
                <a:solidFill>
                  <a:srgbClr val="1C2A40"/>
                </a:solidFill>
                <a:latin typeface="Calibri" pitchFamily="34" charset="0"/>
                <a:ea typeface="Calibri" pitchFamily="34" charset="-122"/>
                <a:cs typeface="Calibri" pitchFamily="34" charset="-120"/>
              </a:rPr>
              <a:t>Ledgerly puts invoicing, payments and follow-ups in one place.</a:t>
            </a:r>
            <a:endParaRPr lang="en-US" sz="1800" dirty="0"/>
          </a:p>
        </p:txBody>
      </p:sp>
      <p:sp>
        <p:nvSpPr>
          <p:cNvPr id="20" name="Text 18"/>
          <p:cNvSpPr txBox="1"/>
          <p:nvPr/>
        </p:nvSpPr>
        <p:spPr>
          <a:xfrm>
            <a:off x="640080" y="6355080"/>
            <a:ext cx="10972800" cy="274320"/>
          </a:xfrm>
          <a:prstGeom prst="rect">
            <a:avLst/>
          </a:prstGeom>
          <a:noFill/>
          <a:ln/>
        </p:spPr>
        <p:txBody>
          <a:bodyPr wrap="square" lIns="0" tIns="0" rIns="0" bIns="0" rtlCol="0" anchor="ctr"/>
          <a:lstStyle/>
          <a:p>
            <a:pPr algn="r" indent="0" marL="0">
              <a:buNone/>
            </a:pPr>
            <a:r>
              <a:rPr lang="en-US" sz="1000" dirty="0">
                <a:solidFill>
                  <a:srgbClr val="5F6B7E"/>
                </a:solidFill>
                <a:latin typeface="Calibri" pitchFamily="34" charset="0"/>
                <a:ea typeface="Calibri" pitchFamily="34" charset="-122"/>
                <a:cs typeface="Calibri" pitchFamily="34" charset="-120"/>
              </a:rPr>
              <a:t>Ledgerly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274320"/>
          </a:xfrm>
          <a:prstGeom prst="rect">
            <a:avLst/>
          </a:prstGeom>
          <a:noFill/>
          <a:ln/>
        </p:spPr>
        <p:txBody>
          <a:bodyPr wrap="square" lIns="0" tIns="0" rIns="0" bIns="0" rtlCol="0" anchor="ctr"/>
          <a:lstStyle/>
          <a:p>
            <a:pPr indent="0" marL="0">
              <a:buNone/>
            </a:pPr>
            <a:r>
              <a:rPr lang="en-US" sz="1400" b="1" spc="200" kern="0" dirty="0">
                <a:solidFill>
                  <a:srgbClr val="315FBC"/>
                </a:solidFill>
                <a:latin typeface="Calibri" pitchFamily="34" charset="0"/>
                <a:ea typeface="Calibri" pitchFamily="34" charset="-122"/>
                <a:cs typeface="Calibri" pitchFamily="34" charset="-120"/>
              </a:rPr>
              <a:t>THE SOLUTION</a:t>
            </a:r>
            <a:endParaRPr lang="en-US" sz="1400" dirty="0"/>
          </a:p>
        </p:txBody>
      </p:sp>
      <p:sp>
        <p:nvSpPr>
          <p:cNvPr id="3" name="Text 1"/>
          <p:cNvSpPr txBox="1"/>
          <p:nvPr/>
        </p:nvSpPr>
        <p:spPr>
          <a:xfrm>
            <a:off x="640080" y="777240"/>
            <a:ext cx="10972800" cy="822960"/>
          </a:xfrm>
          <a:prstGeom prst="rect">
            <a:avLst/>
          </a:prstGeom>
          <a:noFill/>
          <a:ln/>
        </p:spPr>
        <p:txBody>
          <a:bodyPr wrap="square" lIns="0" tIns="0" rIns="0" bIns="0" rtlCol="0" anchor="t"/>
          <a:lstStyle/>
          <a:p>
            <a:pPr indent="0" marL="0">
              <a:buNone/>
            </a:pPr>
            <a:r>
              <a:rPr lang="en-US" sz="3800" b="1" dirty="0">
                <a:solidFill>
                  <a:srgbClr val="1C2A40"/>
                </a:solidFill>
                <a:latin typeface="Cambria" pitchFamily="34" charset="0"/>
                <a:ea typeface="Cambria" pitchFamily="34" charset="-122"/>
                <a:cs typeface="Cambria" pitchFamily="34" charset="-120"/>
              </a:rPr>
              <a:t>One flow from invoice to payment</a:t>
            </a:r>
            <a:endParaRPr lang="en-US" sz="3800" dirty="0"/>
          </a:p>
        </p:txBody>
      </p:sp>
      <p:sp>
        <p:nvSpPr>
          <p:cNvPr id="4" name="Shape 2"/>
          <p:cNvSpPr/>
          <p:nvPr/>
        </p:nvSpPr>
        <p:spPr>
          <a:xfrm>
            <a:off x="640080" y="2103120"/>
            <a:ext cx="2926080" cy="1005840"/>
          </a:xfrm>
          <a:prstGeom prst="chevron">
            <a:avLst/>
          </a:prstGeom>
          <a:solidFill>
            <a:srgbClr val="315FBC"/>
          </a:solidFill>
          <a:ln w="12700">
            <a:solidFill>
              <a:srgbClr val="315FBC"/>
            </a:solidFill>
            <a:prstDash val="solid"/>
          </a:ln>
        </p:spPr>
      </p:sp>
      <p:sp>
        <p:nvSpPr>
          <p:cNvPr id="5" name="Text 3"/>
          <p:cNvSpPr txBox="1"/>
          <p:nvPr/>
        </p:nvSpPr>
        <p:spPr>
          <a:xfrm>
            <a:off x="1051560" y="2103120"/>
            <a:ext cx="21945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Invoice</a:t>
            </a:r>
            <a:endParaRPr lang="en-US" sz="2200" dirty="0"/>
          </a:p>
        </p:txBody>
      </p:sp>
      <p:sp>
        <p:nvSpPr>
          <p:cNvPr id="6" name="Text 4"/>
          <p:cNvSpPr txBox="1"/>
          <p:nvPr/>
        </p:nvSpPr>
        <p:spPr>
          <a:xfrm>
            <a:off x="822960" y="3520440"/>
            <a:ext cx="2468880" cy="164592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Send a clear GST invoice in a few minutes.</a:t>
            </a:r>
            <a:endParaRPr lang="en-US" sz="1600" dirty="0"/>
          </a:p>
        </p:txBody>
      </p:sp>
      <p:sp>
        <p:nvSpPr>
          <p:cNvPr id="7" name="Shape 5"/>
          <p:cNvSpPr/>
          <p:nvPr/>
        </p:nvSpPr>
        <p:spPr>
          <a:xfrm>
            <a:off x="3401568" y="2103120"/>
            <a:ext cx="2926080" cy="1005840"/>
          </a:xfrm>
          <a:prstGeom prst="chevron">
            <a:avLst/>
          </a:prstGeom>
          <a:solidFill>
            <a:srgbClr val="2759B5"/>
          </a:solidFill>
          <a:ln w="12700">
            <a:solidFill>
              <a:srgbClr val="2759B5"/>
            </a:solidFill>
            <a:prstDash val="solid"/>
          </a:ln>
        </p:spPr>
      </p:sp>
      <p:sp>
        <p:nvSpPr>
          <p:cNvPr id="8" name="Text 6"/>
          <p:cNvSpPr txBox="1"/>
          <p:nvPr/>
        </p:nvSpPr>
        <p:spPr>
          <a:xfrm>
            <a:off x="3813048" y="2103120"/>
            <a:ext cx="21945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Track</a:t>
            </a:r>
            <a:endParaRPr lang="en-US" sz="2200" dirty="0"/>
          </a:p>
        </p:txBody>
      </p:sp>
      <p:sp>
        <p:nvSpPr>
          <p:cNvPr id="9" name="Text 7"/>
          <p:cNvSpPr txBox="1"/>
          <p:nvPr/>
        </p:nvSpPr>
        <p:spPr>
          <a:xfrm>
            <a:off x="3584448" y="3520440"/>
            <a:ext cx="2468880" cy="164592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See which invoices are waiting, and for how long.</a:t>
            </a:r>
            <a:endParaRPr lang="en-US" sz="1600" dirty="0"/>
          </a:p>
        </p:txBody>
      </p:sp>
      <p:sp>
        <p:nvSpPr>
          <p:cNvPr id="10" name="Shape 8"/>
          <p:cNvSpPr/>
          <p:nvPr/>
        </p:nvSpPr>
        <p:spPr>
          <a:xfrm>
            <a:off x="6163056" y="2103120"/>
            <a:ext cx="2926080" cy="1005840"/>
          </a:xfrm>
          <a:prstGeom prst="chevron">
            <a:avLst/>
          </a:prstGeom>
          <a:solidFill>
            <a:srgbClr val="1C2A40"/>
          </a:solidFill>
          <a:ln w="12700">
            <a:solidFill>
              <a:srgbClr val="1C2A40"/>
            </a:solidFill>
            <a:prstDash val="solid"/>
          </a:ln>
        </p:spPr>
      </p:sp>
      <p:sp>
        <p:nvSpPr>
          <p:cNvPr id="11" name="Text 9"/>
          <p:cNvSpPr txBox="1"/>
          <p:nvPr/>
        </p:nvSpPr>
        <p:spPr>
          <a:xfrm>
            <a:off x="6574536" y="2103120"/>
            <a:ext cx="21945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Collect</a:t>
            </a:r>
            <a:endParaRPr lang="en-US" sz="2200" dirty="0"/>
          </a:p>
        </p:txBody>
      </p:sp>
      <p:sp>
        <p:nvSpPr>
          <p:cNvPr id="12" name="Text 10"/>
          <p:cNvSpPr txBox="1"/>
          <p:nvPr/>
        </p:nvSpPr>
        <p:spPr>
          <a:xfrm>
            <a:off x="6345936" y="3520440"/>
            <a:ext cx="2468880" cy="164592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Record payments and share a UPI link so paying is easy.</a:t>
            </a:r>
            <a:endParaRPr lang="en-US" sz="1600" dirty="0"/>
          </a:p>
        </p:txBody>
      </p:sp>
      <p:sp>
        <p:nvSpPr>
          <p:cNvPr id="13" name="Shape 11"/>
          <p:cNvSpPr/>
          <p:nvPr/>
        </p:nvSpPr>
        <p:spPr>
          <a:xfrm>
            <a:off x="8924544" y="2103120"/>
            <a:ext cx="2926080" cy="1005840"/>
          </a:xfrm>
          <a:prstGeom prst="chevron">
            <a:avLst/>
          </a:prstGeom>
          <a:solidFill>
            <a:srgbClr val="43876E"/>
          </a:solidFill>
          <a:ln w="12700">
            <a:solidFill>
              <a:srgbClr val="43876E"/>
            </a:solidFill>
            <a:prstDash val="solid"/>
          </a:ln>
        </p:spPr>
      </p:sp>
      <p:sp>
        <p:nvSpPr>
          <p:cNvPr id="14" name="Text 12"/>
          <p:cNvSpPr txBox="1"/>
          <p:nvPr/>
        </p:nvSpPr>
        <p:spPr>
          <a:xfrm>
            <a:off x="9336024" y="2103120"/>
            <a:ext cx="21945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Review</a:t>
            </a:r>
            <a:endParaRPr lang="en-US" sz="2200" dirty="0"/>
          </a:p>
        </p:txBody>
      </p:sp>
      <p:sp>
        <p:nvSpPr>
          <p:cNvPr id="15" name="Text 13"/>
          <p:cNvSpPr txBox="1"/>
          <p:nvPr/>
        </p:nvSpPr>
        <p:spPr>
          <a:xfrm>
            <a:off x="9107424" y="3520440"/>
            <a:ext cx="2468880" cy="164592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Keep a timestamped record of every payment and change.</a:t>
            </a:r>
            <a:endParaRPr lang="en-US" sz="1600" dirty="0"/>
          </a:p>
        </p:txBody>
      </p:sp>
      <p:sp>
        <p:nvSpPr>
          <p:cNvPr id="16" name="Shape 14"/>
          <p:cNvSpPr/>
          <p:nvPr/>
        </p:nvSpPr>
        <p:spPr>
          <a:xfrm>
            <a:off x="640080" y="5120640"/>
            <a:ext cx="10881360" cy="868680"/>
          </a:xfrm>
          <a:prstGeom prst="roundRect">
            <a:avLst>
              <a:gd name="adj" fmla="val 15789"/>
            </a:avLst>
          </a:prstGeom>
          <a:solidFill>
            <a:srgbClr val="F5F7FB"/>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17" name="Text 15"/>
          <p:cNvSpPr txBox="1"/>
          <p:nvPr/>
        </p:nvSpPr>
        <p:spPr>
          <a:xfrm>
            <a:off x="914400" y="5321808"/>
            <a:ext cx="10424160" cy="457200"/>
          </a:xfrm>
          <a:prstGeom prst="rect">
            <a:avLst/>
          </a:prstGeom>
          <a:noFill/>
          <a:ln/>
        </p:spPr>
        <p:txBody>
          <a:bodyPr wrap="square" lIns="0" tIns="0" rIns="0" bIns="0" rtlCol="0" anchor="ctr"/>
          <a:lstStyle/>
          <a:p>
            <a:pPr indent="0" marL="0">
              <a:buNone/>
            </a:pPr>
            <a:r>
              <a:rPr lang="en-US" sz="1600" b="1" dirty="0">
                <a:solidFill>
                  <a:srgbClr val="1C2A40"/>
                </a:solidFill>
                <a:latin typeface="Calibri" pitchFamily="34" charset="0"/>
                <a:ea typeface="Calibri" pitchFamily="34" charset="-122"/>
                <a:cs typeface="Calibri" pitchFamily="34" charset="-120"/>
              </a:rPr>
              <a:t>Overdue invoices surface automatically once the due date passes, so nothing depends on memory.</a:t>
            </a:r>
            <a:endParaRPr lang="en-US" sz="1600" dirty="0"/>
          </a:p>
        </p:txBody>
      </p:sp>
      <p:sp>
        <p:nvSpPr>
          <p:cNvPr id="18" name="Text 16"/>
          <p:cNvSpPr txBox="1"/>
          <p:nvPr/>
        </p:nvSpPr>
        <p:spPr>
          <a:xfrm>
            <a:off x="640080" y="6355080"/>
            <a:ext cx="10972800" cy="274320"/>
          </a:xfrm>
          <a:prstGeom prst="rect">
            <a:avLst/>
          </a:prstGeom>
          <a:noFill/>
          <a:ln/>
        </p:spPr>
        <p:txBody>
          <a:bodyPr wrap="square" lIns="0" tIns="0" rIns="0" bIns="0" rtlCol="0" anchor="ctr"/>
          <a:lstStyle/>
          <a:p>
            <a:pPr algn="r" indent="0" marL="0">
              <a:buNone/>
            </a:pPr>
            <a:r>
              <a:rPr lang="en-US" sz="1000" dirty="0">
                <a:solidFill>
                  <a:srgbClr val="5F6B7E"/>
                </a:solidFill>
                <a:latin typeface="Calibri" pitchFamily="34" charset="0"/>
                <a:ea typeface="Calibri" pitchFamily="34" charset="-122"/>
                <a:cs typeface="Calibri" pitchFamily="34" charset="-120"/>
              </a:rPr>
              <a:t>Ledgerly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274320"/>
          </a:xfrm>
          <a:prstGeom prst="rect">
            <a:avLst/>
          </a:prstGeom>
          <a:noFill/>
          <a:ln/>
        </p:spPr>
        <p:txBody>
          <a:bodyPr wrap="square" lIns="0" tIns="0" rIns="0" bIns="0" rtlCol="0" anchor="ctr"/>
          <a:lstStyle/>
          <a:p>
            <a:pPr indent="0" marL="0">
              <a:buNone/>
            </a:pPr>
            <a:r>
              <a:rPr lang="en-US" sz="1400" b="1" spc="200" kern="0" dirty="0">
                <a:solidFill>
                  <a:srgbClr val="315FBC"/>
                </a:solidFill>
                <a:latin typeface="Calibri" pitchFamily="34" charset="0"/>
                <a:ea typeface="Calibri" pitchFamily="34" charset="-122"/>
                <a:cs typeface="Calibri" pitchFamily="34" charset="-120"/>
              </a:rPr>
              <a:t>CORE FEATURE</a:t>
            </a:r>
            <a:endParaRPr lang="en-US" sz="1400" dirty="0"/>
          </a:p>
        </p:txBody>
      </p:sp>
      <p:sp>
        <p:nvSpPr>
          <p:cNvPr id="3" name="Text 1"/>
          <p:cNvSpPr txBox="1"/>
          <p:nvPr/>
        </p:nvSpPr>
        <p:spPr>
          <a:xfrm>
            <a:off x="640080" y="777240"/>
            <a:ext cx="10972800" cy="822960"/>
          </a:xfrm>
          <a:prstGeom prst="rect">
            <a:avLst/>
          </a:prstGeom>
          <a:noFill/>
          <a:ln/>
        </p:spPr>
        <p:txBody>
          <a:bodyPr wrap="square" lIns="0" tIns="0" rIns="0" bIns="0" rtlCol="0" anchor="t"/>
          <a:lstStyle/>
          <a:p>
            <a:pPr indent="0" marL="0">
              <a:buNone/>
            </a:pPr>
            <a:r>
              <a:rPr lang="en-US" sz="3800" b="1" dirty="0">
                <a:solidFill>
                  <a:srgbClr val="1C2A40"/>
                </a:solidFill>
                <a:latin typeface="Cambria" pitchFamily="34" charset="0"/>
                <a:ea typeface="Cambria" pitchFamily="34" charset="-122"/>
                <a:cs typeface="Cambria" pitchFamily="34" charset="-120"/>
              </a:rPr>
              <a:t>GST invoicing that handles the details</a:t>
            </a:r>
            <a:endParaRPr lang="en-US" sz="3800" dirty="0"/>
          </a:p>
        </p:txBody>
      </p:sp>
      <p:sp>
        <p:nvSpPr>
          <p:cNvPr id="4" name="Text 2"/>
          <p:cNvSpPr txBox="1"/>
          <p:nvPr/>
        </p:nvSpPr>
        <p:spPr>
          <a:xfrm>
            <a:off x="640080" y="1920240"/>
            <a:ext cx="5669280" cy="40233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C2A40"/>
                </a:solidFill>
                <a:latin typeface="Calibri" pitchFamily="34" charset="0"/>
                <a:ea typeface="Calibri" pitchFamily="34" charset="-122"/>
                <a:cs typeface="Calibri" pitchFamily="34" charset="-120"/>
              </a:rPr>
              <a:t>Pick a saved customer, or add a new business in seconds</a:t>
            </a:r>
            <a:endParaRPr lang="en-US" sz="1800" dirty="0"/>
          </a:p>
          <a:p>
            <a:pPr marL="342900" indent="-342900">
              <a:spcAft>
                <a:spcPts val="1200"/>
              </a:spcAft>
              <a:buSzPct val="100000"/>
              <a:buChar char="•"/>
            </a:pPr>
            <a:r>
              <a:rPr lang="en-US" sz="1800" dirty="0">
                <a:solidFill>
                  <a:srgbClr val="1C2A40"/>
                </a:solidFill>
                <a:latin typeface="Calibri" pitchFamily="34" charset="0"/>
                <a:ea typeface="Calibri" pitchFamily="34" charset="-122"/>
                <a:cs typeface="Calibri" pitchFamily="34" charset="-120"/>
              </a:rPr>
              <a:t>Items carry quantity, rate and GST of 0, 5, 12, 18 or 28%</a:t>
            </a:r>
            <a:endParaRPr lang="en-US" sz="1800" dirty="0"/>
          </a:p>
          <a:p>
            <a:pPr marL="342900" indent="-342900">
              <a:spcAft>
                <a:spcPts val="1200"/>
              </a:spcAft>
              <a:buSzPct val="100000"/>
              <a:buChar char="•"/>
            </a:pPr>
            <a:r>
              <a:rPr lang="en-US" sz="1800" dirty="0">
                <a:solidFill>
                  <a:srgbClr val="1C2A40"/>
                </a:solidFill>
                <a:latin typeface="Calibri" pitchFamily="34" charset="0"/>
                <a:ea typeface="Calibri" pitchFamily="34" charset="-122"/>
                <a:cs typeface="Calibri" pitchFamily="34" charset="-120"/>
              </a:rPr>
              <a:t>Numbers follow the financial year, like INV/2026-27/0061</a:t>
            </a:r>
            <a:endParaRPr lang="en-US" sz="1800" dirty="0"/>
          </a:p>
          <a:p>
            <a:pPr marL="342900" indent="-342900">
              <a:spcAft>
                <a:spcPts val="1200"/>
              </a:spcAft>
              <a:buSzPct val="100000"/>
              <a:buChar char="•"/>
            </a:pPr>
            <a:r>
              <a:rPr lang="en-US" sz="1800" dirty="0">
                <a:solidFill>
                  <a:srgbClr val="1C2A40"/>
                </a:solidFill>
                <a:latin typeface="Calibri" pitchFamily="34" charset="0"/>
                <a:ea typeface="Calibri" pitchFamily="34" charset="-122"/>
                <a:cs typeface="Calibri" pitchFamily="34" charset="-120"/>
              </a:rPr>
              <a:t>Overdue invoices are flagged with the days late</a:t>
            </a:r>
            <a:endParaRPr lang="en-US" sz="1800" dirty="0"/>
          </a:p>
          <a:p>
            <a:pPr marL="342900" indent="-342900">
              <a:spcAft>
                <a:spcPts val="1200"/>
              </a:spcAft>
              <a:buSzPct val="100000"/>
              <a:buChar char="•"/>
            </a:pPr>
            <a:r>
              <a:rPr lang="en-US" sz="1800" dirty="0">
                <a:solidFill>
                  <a:srgbClr val="1C2A40"/>
                </a:solidFill>
                <a:latin typeface="Calibri" pitchFamily="34" charset="0"/>
                <a:ea typeface="Calibri" pitchFamily="34" charset="-122"/>
                <a:cs typeface="Calibri" pitchFamily="34" charset="-120"/>
              </a:rPr>
              <a:t>Save as draft or send straight away</a:t>
            </a:r>
            <a:endParaRPr lang="en-US" sz="1800" dirty="0"/>
          </a:p>
        </p:txBody>
      </p:sp>
      <p:sp>
        <p:nvSpPr>
          <p:cNvPr id="5" name="Shape 3"/>
          <p:cNvSpPr/>
          <p:nvPr/>
        </p:nvSpPr>
        <p:spPr>
          <a:xfrm>
            <a:off x="6949440" y="1828800"/>
            <a:ext cx="4572000" cy="4114800"/>
          </a:xfrm>
          <a:prstGeom prst="roundRect">
            <a:avLst>
              <a:gd name="adj" fmla="val 3333"/>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6" name="Text 4"/>
          <p:cNvSpPr txBox="1"/>
          <p:nvPr/>
        </p:nvSpPr>
        <p:spPr>
          <a:xfrm>
            <a:off x="7315200" y="2148840"/>
            <a:ext cx="3657600" cy="274320"/>
          </a:xfrm>
          <a:prstGeom prst="rect">
            <a:avLst/>
          </a:prstGeom>
          <a:noFill/>
          <a:ln/>
        </p:spPr>
        <p:txBody>
          <a:bodyPr wrap="square" lIns="0" tIns="0" rIns="0" bIns="0" rtlCol="0" anchor="t"/>
          <a:lstStyle/>
          <a:p>
            <a:pPr indent="0" marL="0">
              <a:buNone/>
            </a:pPr>
            <a:r>
              <a:rPr lang="en-US" sz="1200" b="1" dirty="0">
                <a:solidFill>
                  <a:srgbClr val="5F6B7E"/>
                </a:solidFill>
                <a:latin typeface="Calibri" pitchFamily="34" charset="0"/>
                <a:ea typeface="Calibri" pitchFamily="34" charset="-122"/>
                <a:cs typeface="Calibri" pitchFamily="34" charset="-120"/>
              </a:rPr>
              <a:t>TAX INVOICE</a:t>
            </a:r>
            <a:endParaRPr lang="en-US" sz="1200" dirty="0"/>
          </a:p>
        </p:txBody>
      </p:sp>
      <p:sp>
        <p:nvSpPr>
          <p:cNvPr id="7" name="Text 5"/>
          <p:cNvSpPr txBox="1"/>
          <p:nvPr/>
        </p:nvSpPr>
        <p:spPr>
          <a:xfrm>
            <a:off x="7315200" y="2468880"/>
            <a:ext cx="4023360" cy="457200"/>
          </a:xfrm>
          <a:prstGeom prst="rect">
            <a:avLst/>
          </a:prstGeom>
          <a:noFill/>
          <a:ln/>
        </p:spPr>
        <p:txBody>
          <a:bodyPr wrap="square" lIns="0" tIns="0" rIns="0" bIns="0" rtlCol="0" anchor="t"/>
          <a:lstStyle/>
          <a:p>
            <a:pPr indent="0" marL="0">
              <a:buNone/>
            </a:pPr>
            <a:r>
              <a:rPr lang="en-US" sz="2200" b="1" dirty="0">
                <a:solidFill>
                  <a:srgbClr val="1C2A40"/>
                </a:solidFill>
                <a:latin typeface="Cambria" pitchFamily="34" charset="0"/>
                <a:ea typeface="Cambria" pitchFamily="34" charset="-122"/>
                <a:cs typeface="Cambria" pitchFamily="34" charset="-120"/>
              </a:rPr>
              <a:t>INV/2026-27/0061</a:t>
            </a:r>
            <a:endParaRPr lang="en-US" sz="2200" dirty="0"/>
          </a:p>
        </p:txBody>
      </p:sp>
      <p:sp>
        <p:nvSpPr>
          <p:cNvPr id="8" name="Text 6"/>
          <p:cNvSpPr txBox="1"/>
          <p:nvPr/>
        </p:nvSpPr>
        <p:spPr>
          <a:xfrm>
            <a:off x="7315200" y="2971800"/>
            <a:ext cx="4023360" cy="365760"/>
          </a:xfrm>
          <a:prstGeom prst="rect">
            <a:avLst/>
          </a:prstGeom>
          <a:noFill/>
          <a:ln/>
        </p:spPr>
        <p:txBody>
          <a:bodyPr wrap="square" lIns="0" tIns="0" rIns="0" bIns="0" rtlCol="0" anchor="t"/>
          <a:lstStyle/>
          <a:p>
            <a:pPr indent="0" marL="0">
              <a:buNone/>
            </a:pPr>
            <a:r>
              <a:rPr lang="en-US" sz="1500" dirty="0">
                <a:solidFill>
                  <a:srgbClr val="5F6B7E"/>
                </a:solidFill>
                <a:latin typeface="Calibri" pitchFamily="34" charset="0"/>
                <a:ea typeface="Calibri" pitchFamily="34" charset="-122"/>
                <a:cs typeface="Calibri" pitchFamily="34" charset="-120"/>
              </a:rPr>
              <a:t>Bill to: Kaveri Foodworks</a:t>
            </a:r>
            <a:endParaRPr lang="en-US" sz="1500" dirty="0"/>
          </a:p>
        </p:txBody>
      </p:sp>
      <p:sp>
        <p:nvSpPr>
          <p:cNvPr id="9" name="Text 7"/>
          <p:cNvSpPr txBox="1"/>
          <p:nvPr/>
        </p:nvSpPr>
        <p:spPr>
          <a:xfrm>
            <a:off x="7315200" y="3657600"/>
            <a:ext cx="4023360" cy="365760"/>
          </a:xfrm>
          <a:prstGeom prst="rect">
            <a:avLst/>
          </a:prstGeom>
          <a:noFill/>
          <a:ln/>
        </p:spPr>
        <p:txBody>
          <a:bodyPr wrap="square" lIns="0" tIns="0" rIns="0" bIns="0" rtlCol="0" anchor="t"/>
          <a:lstStyle/>
          <a:p>
            <a:pPr indent="0" marL="0">
              <a:buNone/>
            </a:pPr>
            <a:r>
              <a:rPr lang="en-US" sz="1600" dirty="0">
                <a:solidFill>
                  <a:srgbClr val="1C2A40"/>
                </a:solidFill>
                <a:latin typeface="Calibri" pitchFamily="34" charset="0"/>
                <a:ea typeface="Calibri" pitchFamily="34" charset="-122"/>
                <a:cs typeface="Calibri" pitchFamily="34" charset="-120"/>
              </a:rPr>
              <a:t>Printed cartons, 1,000 × ₹15</a:t>
            </a:r>
            <a:endParaRPr lang="en-US" sz="1600" dirty="0"/>
          </a:p>
        </p:txBody>
      </p:sp>
      <p:sp>
        <p:nvSpPr>
          <p:cNvPr id="10" name="Text 8"/>
          <p:cNvSpPr txBox="1"/>
          <p:nvPr/>
        </p:nvSpPr>
        <p:spPr>
          <a:xfrm>
            <a:off x="7315200" y="4160520"/>
            <a:ext cx="4023360" cy="32004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Taxable value  ₹15,000</a:t>
            </a:r>
            <a:endParaRPr lang="en-US" sz="1600" dirty="0"/>
          </a:p>
        </p:txBody>
      </p:sp>
      <p:sp>
        <p:nvSpPr>
          <p:cNvPr id="11" name="Text 9"/>
          <p:cNvSpPr txBox="1"/>
          <p:nvPr/>
        </p:nvSpPr>
        <p:spPr>
          <a:xfrm>
            <a:off x="7315200" y="4480560"/>
            <a:ext cx="4023360" cy="320040"/>
          </a:xfrm>
          <a:prstGeom prst="rect">
            <a:avLst/>
          </a:prstGeom>
          <a:noFill/>
          <a:ln/>
        </p:spPr>
        <p:txBody>
          <a:bodyPr wrap="square" lIns="0" tIns="0" rIns="0" bIns="0" rtlCol="0" anchor="t"/>
          <a:lstStyle/>
          <a:p>
            <a:pPr indent="0" marL="0">
              <a:buNone/>
            </a:pPr>
            <a:r>
              <a:rPr lang="en-US" sz="1600" dirty="0">
                <a:solidFill>
                  <a:srgbClr val="5F6B7E"/>
                </a:solidFill>
                <a:latin typeface="Calibri" pitchFamily="34" charset="0"/>
                <a:ea typeface="Calibri" pitchFamily="34" charset="-122"/>
                <a:cs typeface="Calibri" pitchFamily="34" charset="-120"/>
              </a:rPr>
              <a:t>GST at 12%  ₹1,800</a:t>
            </a:r>
            <a:endParaRPr lang="en-US" sz="1600" dirty="0"/>
          </a:p>
        </p:txBody>
      </p:sp>
      <p:sp>
        <p:nvSpPr>
          <p:cNvPr id="12" name="Text 10"/>
          <p:cNvSpPr txBox="1"/>
          <p:nvPr/>
        </p:nvSpPr>
        <p:spPr>
          <a:xfrm>
            <a:off x="7315200" y="5029200"/>
            <a:ext cx="4023360" cy="457200"/>
          </a:xfrm>
          <a:prstGeom prst="rect">
            <a:avLst/>
          </a:prstGeom>
          <a:noFill/>
          <a:ln/>
        </p:spPr>
        <p:txBody>
          <a:bodyPr wrap="square" lIns="0" tIns="0" rIns="0" bIns="0" rtlCol="0" anchor="t"/>
          <a:lstStyle/>
          <a:p>
            <a:pPr indent="0" marL="0">
              <a:buNone/>
            </a:pPr>
            <a:r>
              <a:rPr lang="en-US" sz="2400" b="1" dirty="0">
                <a:solidFill>
                  <a:srgbClr val="315FBC"/>
                </a:solidFill>
                <a:latin typeface="Cambria" pitchFamily="34" charset="0"/>
                <a:ea typeface="Cambria" pitchFamily="34" charset="-122"/>
                <a:cs typeface="Cambria" pitchFamily="34" charset="-120"/>
              </a:rPr>
              <a:t>Total  ₹16,800</a:t>
            </a:r>
            <a:endParaRPr lang="en-US" sz="2400" dirty="0"/>
          </a:p>
        </p:txBody>
      </p:sp>
      <p:sp>
        <p:nvSpPr>
          <p:cNvPr id="13" name="Text 11"/>
          <p:cNvSpPr txBox="1"/>
          <p:nvPr/>
        </p:nvSpPr>
        <p:spPr>
          <a:xfrm>
            <a:off x="640080" y="6355080"/>
            <a:ext cx="10972800" cy="274320"/>
          </a:xfrm>
          <a:prstGeom prst="rect">
            <a:avLst/>
          </a:prstGeom>
          <a:noFill/>
          <a:ln/>
        </p:spPr>
        <p:txBody>
          <a:bodyPr wrap="square" lIns="0" tIns="0" rIns="0" bIns="0" rtlCol="0" anchor="ctr"/>
          <a:lstStyle/>
          <a:p>
            <a:pPr algn="r" indent="0" marL="0">
              <a:buNone/>
            </a:pPr>
            <a:r>
              <a:rPr lang="en-US" sz="1000" dirty="0">
                <a:solidFill>
                  <a:srgbClr val="5F6B7E"/>
                </a:solidFill>
                <a:latin typeface="Calibri" pitchFamily="34" charset="0"/>
                <a:ea typeface="Calibri" pitchFamily="34" charset="-122"/>
                <a:cs typeface="Calibri" pitchFamily="34" charset="-120"/>
              </a:rPr>
              <a:t>Ledgerly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274320"/>
          </a:xfrm>
          <a:prstGeom prst="rect">
            <a:avLst/>
          </a:prstGeom>
          <a:noFill/>
          <a:ln/>
        </p:spPr>
        <p:txBody>
          <a:bodyPr wrap="square" lIns="0" tIns="0" rIns="0" bIns="0" rtlCol="0" anchor="ctr"/>
          <a:lstStyle/>
          <a:p>
            <a:pPr indent="0" marL="0">
              <a:buNone/>
            </a:pPr>
            <a:r>
              <a:rPr lang="en-US" sz="1400" b="1" spc="200" kern="0" dirty="0">
                <a:solidFill>
                  <a:srgbClr val="315FBC"/>
                </a:solidFill>
                <a:latin typeface="Calibri" pitchFamily="34" charset="0"/>
                <a:ea typeface="Calibri" pitchFamily="34" charset="-122"/>
                <a:cs typeface="Calibri" pitchFamily="34" charset="-120"/>
              </a:rPr>
              <a:t>PAYMENTS</a:t>
            </a:r>
            <a:endParaRPr lang="en-US" sz="1400" dirty="0"/>
          </a:p>
        </p:txBody>
      </p:sp>
      <p:sp>
        <p:nvSpPr>
          <p:cNvPr id="3" name="Text 1"/>
          <p:cNvSpPr txBox="1"/>
          <p:nvPr/>
        </p:nvSpPr>
        <p:spPr>
          <a:xfrm>
            <a:off x="640080" y="777240"/>
            <a:ext cx="10972800" cy="822960"/>
          </a:xfrm>
          <a:prstGeom prst="rect">
            <a:avLst/>
          </a:prstGeom>
          <a:noFill/>
          <a:ln/>
        </p:spPr>
        <p:txBody>
          <a:bodyPr wrap="square" lIns="0" tIns="0" rIns="0" bIns="0" rtlCol="0" anchor="t"/>
          <a:lstStyle/>
          <a:p>
            <a:pPr indent="0" marL="0">
              <a:buNone/>
            </a:pPr>
            <a:r>
              <a:rPr lang="en-US" sz="3800" b="1" dirty="0">
                <a:solidFill>
                  <a:srgbClr val="1C2A40"/>
                </a:solidFill>
                <a:latin typeface="Cambria" pitchFamily="34" charset="0"/>
                <a:ea typeface="Cambria" pitchFamily="34" charset="-122"/>
                <a:cs typeface="Cambria" pitchFamily="34" charset="-120"/>
              </a:rPr>
              <a:t>Paying becomes one tap for your customer</a:t>
            </a:r>
            <a:endParaRPr lang="en-US" sz="3800" dirty="0"/>
          </a:p>
        </p:txBody>
      </p:sp>
      <p:sp>
        <p:nvSpPr>
          <p:cNvPr id="4" name="Shape 2"/>
          <p:cNvSpPr/>
          <p:nvPr/>
        </p:nvSpPr>
        <p:spPr>
          <a:xfrm>
            <a:off x="640080" y="1920240"/>
            <a:ext cx="548640" cy="548640"/>
          </a:xfrm>
          <a:prstGeom prst="ellipse">
            <a:avLst/>
          </a:prstGeom>
          <a:solidFill>
            <a:srgbClr val="315FBC"/>
          </a:solidFill>
          <a:ln w="12700">
            <a:solidFill>
              <a:srgbClr val="315FBC"/>
            </a:solidFill>
            <a:prstDash val="solid"/>
          </a:ln>
        </p:spPr>
      </p:sp>
      <p:sp>
        <p:nvSpPr>
          <p:cNvPr id="5" name="Text 3"/>
          <p:cNvSpPr txBox="1"/>
          <p:nvPr/>
        </p:nvSpPr>
        <p:spPr>
          <a:xfrm>
            <a:off x="640080" y="1920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993392"/>
            <a:ext cx="4572000" cy="548640"/>
          </a:xfrm>
          <a:prstGeom prst="rect">
            <a:avLst/>
          </a:prstGeom>
          <a:noFill/>
          <a:ln/>
        </p:spPr>
        <p:txBody>
          <a:bodyPr wrap="square" lIns="0" tIns="0" rIns="0" bIns="0" rtlCol="0" anchor="t"/>
          <a:lstStyle/>
          <a:p>
            <a:pPr indent="0" marL="0">
              <a:buNone/>
            </a:pPr>
            <a:r>
              <a:rPr lang="en-US" sz="1800" dirty="0">
                <a:solidFill>
                  <a:srgbClr val="1C2A40"/>
                </a:solidFill>
                <a:latin typeface="Calibri" pitchFamily="34" charset="0"/>
                <a:ea typeface="Calibri" pitchFamily="34" charset="-122"/>
                <a:cs typeface="Calibri" pitchFamily="34" charset="-120"/>
              </a:rPr>
              <a:t>Add your UPI ID once, in Settings</a:t>
            </a:r>
            <a:endParaRPr lang="en-US" sz="1800" dirty="0"/>
          </a:p>
        </p:txBody>
      </p:sp>
      <p:sp>
        <p:nvSpPr>
          <p:cNvPr id="7" name="Shape 5"/>
          <p:cNvSpPr/>
          <p:nvPr/>
        </p:nvSpPr>
        <p:spPr>
          <a:xfrm>
            <a:off x="640080" y="2880360"/>
            <a:ext cx="548640" cy="548640"/>
          </a:xfrm>
          <a:prstGeom prst="ellipse">
            <a:avLst/>
          </a:prstGeom>
          <a:solidFill>
            <a:srgbClr val="315FBC"/>
          </a:solidFill>
          <a:ln w="12700">
            <a:solidFill>
              <a:srgbClr val="315FBC"/>
            </a:solidFill>
            <a:prstDash val="solid"/>
          </a:ln>
        </p:spPr>
      </p:sp>
      <p:sp>
        <p:nvSpPr>
          <p:cNvPr id="8" name="Text 6"/>
          <p:cNvSpPr txBox="1"/>
          <p:nvPr/>
        </p:nvSpPr>
        <p:spPr>
          <a:xfrm>
            <a:off x="640080" y="2880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17320" y="2953512"/>
            <a:ext cx="4572000" cy="548640"/>
          </a:xfrm>
          <a:prstGeom prst="rect">
            <a:avLst/>
          </a:prstGeom>
          <a:noFill/>
          <a:ln/>
        </p:spPr>
        <p:txBody>
          <a:bodyPr wrap="square" lIns="0" tIns="0" rIns="0" bIns="0" rtlCol="0" anchor="t"/>
          <a:lstStyle/>
          <a:p>
            <a:pPr indent="0" marL="0">
              <a:buNone/>
            </a:pPr>
            <a:r>
              <a:rPr lang="en-US" sz="1800" dirty="0">
                <a:solidFill>
                  <a:srgbClr val="1C2A40"/>
                </a:solidFill>
                <a:latin typeface="Calibri" pitchFamily="34" charset="0"/>
                <a:ea typeface="Calibri" pitchFamily="34" charset="-122"/>
                <a:cs typeface="Calibri" pitchFamily="34" charset="-120"/>
              </a:rPr>
              <a:t>Open an invoice and tap UPI link</a:t>
            </a:r>
            <a:endParaRPr lang="en-US" sz="1800" dirty="0"/>
          </a:p>
        </p:txBody>
      </p:sp>
      <p:sp>
        <p:nvSpPr>
          <p:cNvPr id="10" name="Shape 8"/>
          <p:cNvSpPr/>
          <p:nvPr/>
        </p:nvSpPr>
        <p:spPr>
          <a:xfrm>
            <a:off x="640080" y="3840480"/>
            <a:ext cx="548640" cy="548640"/>
          </a:xfrm>
          <a:prstGeom prst="ellipse">
            <a:avLst/>
          </a:prstGeom>
          <a:solidFill>
            <a:srgbClr val="315FBC"/>
          </a:solidFill>
          <a:ln w="12700">
            <a:solidFill>
              <a:srgbClr val="315FBC"/>
            </a:solidFill>
            <a:prstDash val="solid"/>
          </a:ln>
        </p:spPr>
      </p:sp>
      <p:sp>
        <p:nvSpPr>
          <p:cNvPr id="11" name="Text 9"/>
          <p:cNvSpPr txBox="1"/>
          <p:nvPr/>
        </p:nvSpPr>
        <p:spPr>
          <a:xfrm>
            <a:off x="640080" y="3840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17320" y="3913632"/>
            <a:ext cx="4572000" cy="548640"/>
          </a:xfrm>
          <a:prstGeom prst="rect">
            <a:avLst/>
          </a:prstGeom>
          <a:noFill/>
          <a:ln/>
        </p:spPr>
        <p:txBody>
          <a:bodyPr wrap="square" lIns="0" tIns="0" rIns="0" bIns="0" rtlCol="0" anchor="t"/>
          <a:lstStyle/>
          <a:p>
            <a:pPr indent="0" marL="0">
              <a:buNone/>
            </a:pPr>
            <a:r>
              <a:rPr lang="en-US" sz="1800" dirty="0">
                <a:solidFill>
                  <a:srgbClr val="1C2A40"/>
                </a:solidFill>
                <a:latin typeface="Calibri" pitchFamily="34" charset="0"/>
                <a:ea typeface="Calibri" pitchFamily="34" charset="-122"/>
                <a:cs typeface="Calibri" pitchFamily="34" charset="-120"/>
              </a:rPr>
              <a:t>Send the link or QR code to your customer</a:t>
            </a:r>
            <a:endParaRPr lang="en-US" sz="1800" dirty="0"/>
          </a:p>
        </p:txBody>
      </p:sp>
      <p:sp>
        <p:nvSpPr>
          <p:cNvPr id="13" name="Shape 11"/>
          <p:cNvSpPr/>
          <p:nvPr/>
        </p:nvSpPr>
        <p:spPr>
          <a:xfrm>
            <a:off x="640080" y="4800600"/>
            <a:ext cx="548640" cy="548640"/>
          </a:xfrm>
          <a:prstGeom prst="ellipse">
            <a:avLst/>
          </a:prstGeom>
          <a:solidFill>
            <a:srgbClr val="315FBC"/>
          </a:solidFill>
          <a:ln w="12700">
            <a:solidFill>
              <a:srgbClr val="315FBC"/>
            </a:solidFill>
            <a:prstDash val="solid"/>
          </a:ln>
        </p:spPr>
      </p:sp>
      <p:sp>
        <p:nvSpPr>
          <p:cNvPr id="14" name="Text 12"/>
          <p:cNvSpPr txBox="1"/>
          <p:nvPr/>
        </p:nvSpPr>
        <p:spPr>
          <a:xfrm>
            <a:off x="640080" y="4800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417320" y="4873752"/>
            <a:ext cx="4572000" cy="548640"/>
          </a:xfrm>
          <a:prstGeom prst="rect">
            <a:avLst/>
          </a:prstGeom>
          <a:noFill/>
          <a:ln/>
        </p:spPr>
        <p:txBody>
          <a:bodyPr wrap="square" lIns="0" tIns="0" rIns="0" bIns="0" rtlCol="0" anchor="t"/>
          <a:lstStyle/>
          <a:p>
            <a:pPr indent="0" marL="0">
              <a:buNone/>
            </a:pPr>
            <a:r>
              <a:rPr lang="en-US" sz="1800" dirty="0">
                <a:solidFill>
                  <a:srgbClr val="1C2A40"/>
                </a:solidFill>
                <a:latin typeface="Calibri" pitchFamily="34" charset="0"/>
                <a:ea typeface="Calibri" pitchFamily="34" charset="-122"/>
                <a:cs typeface="Calibri" pitchFamily="34" charset="-120"/>
              </a:rPr>
              <a:t>They pay from any UPI app, and you record it</a:t>
            </a:r>
            <a:endParaRPr lang="en-US" sz="1800" dirty="0"/>
          </a:p>
        </p:txBody>
      </p:sp>
      <p:sp>
        <p:nvSpPr>
          <p:cNvPr id="16" name="Text 14"/>
          <p:cNvSpPr txBox="1"/>
          <p:nvPr/>
        </p:nvSpPr>
        <p:spPr>
          <a:xfrm>
            <a:off x="6492240" y="1920240"/>
            <a:ext cx="5029200" cy="320040"/>
          </a:xfrm>
          <a:prstGeom prst="rect">
            <a:avLst/>
          </a:prstGeom>
          <a:noFill/>
          <a:ln/>
        </p:spPr>
        <p:txBody>
          <a:bodyPr wrap="square" lIns="0" tIns="0" rIns="0" bIns="0" rtlCol="0" anchor="t"/>
          <a:lstStyle/>
          <a:p>
            <a:pPr indent="0" marL="0">
              <a:buNone/>
            </a:pPr>
            <a:r>
              <a:rPr lang="en-US" sz="1400" dirty="0">
                <a:solidFill>
                  <a:srgbClr val="5F6B7E"/>
                </a:solidFill>
                <a:latin typeface="Calibri" pitchFamily="34" charset="0"/>
                <a:ea typeface="Calibri" pitchFamily="34" charset="-122"/>
                <a:cs typeface="Calibri" pitchFamily="34" charset="-120"/>
              </a:rPr>
              <a:t>Example link for invoice INV/2026-27/0048</a:t>
            </a:r>
            <a:endParaRPr lang="en-US" sz="1400" dirty="0"/>
          </a:p>
        </p:txBody>
      </p:sp>
      <p:sp>
        <p:nvSpPr>
          <p:cNvPr id="17" name="Shape 15"/>
          <p:cNvSpPr/>
          <p:nvPr/>
        </p:nvSpPr>
        <p:spPr>
          <a:xfrm>
            <a:off x="6492240" y="2331720"/>
            <a:ext cx="5029200" cy="2103120"/>
          </a:xfrm>
          <a:prstGeom prst="roundRect">
            <a:avLst>
              <a:gd name="adj" fmla="val 5217"/>
            </a:avLst>
          </a:prstGeom>
          <a:solidFill>
            <a:srgbClr val="1C2A40"/>
          </a:solidFill>
          <a:ln w="12700">
            <a:solidFill>
              <a:srgbClr val="1C2A40"/>
            </a:solidFill>
            <a:prstDash val="solid"/>
          </a:ln>
        </p:spPr>
      </p:sp>
      <p:sp>
        <p:nvSpPr>
          <p:cNvPr id="18" name="Text 16"/>
          <p:cNvSpPr txBox="1"/>
          <p:nvPr/>
        </p:nvSpPr>
        <p:spPr>
          <a:xfrm>
            <a:off x="6766560" y="2514600"/>
            <a:ext cx="4572000" cy="1737360"/>
          </a:xfrm>
          <a:prstGeom prst="rect">
            <a:avLst/>
          </a:prstGeom>
          <a:noFill/>
          <a:ln/>
        </p:spPr>
        <p:txBody>
          <a:bodyPr wrap="square" lIns="0" tIns="0" rIns="0" bIns="0" rtlCol="0" anchor="t"/>
          <a:lstStyle/>
          <a:p>
            <a:pPr indent="0" marL="0">
              <a:buNone/>
            </a:pPr>
            <a:r>
              <a:rPr lang="en-US" sz="1400" dirty="0">
                <a:solidFill>
                  <a:srgbClr val="E8EDF6"/>
                </a:solidFill>
                <a:latin typeface="Courier New" pitchFamily="34" charset="0"/>
                <a:ea typeface="Courier New" pitchFamily="34" charset="-122"/>
                <a:cs typeface="Courier New" pitchFamily="34" charset="-120"/>
              </a:rPr>
              <a:t>upi://pay?pa=yourname@bank&amp;pn=Aster%20%26%20Stone%20Co.&amp;am=73840.00&amp;cu=INR&amp;tn=INV%2F2026-27%2F0048</a:t>
            </a:r>
            <a:endParaRPr lang="en-US" sz="1400" dirty="0"/>
          </a:p>
        </p:txBody>
      </p:sp>
      <p:sp>
        <p:nvSpPr>
          <p:cNvPr id="19" name="Text 17"/>
          <p:cNvSpPr txBox="1"/>
          <p:nvPr/>
        </p:nvSpPr>
        <p:spPr>
          <a:xfrm>
            <a:off x="6492240" y="4663440"/>
            <a:ext cx="5029200" cy="1371600"/>
          </a:xfrm>
          <a:prstGeom prst="rect">
            <a:avLst/>
          </a:prstGeom>
          <a:noFill/>
          <a:ln/>
        </p:spPr>
        <p:txBody>
          <a:bodyPr wrap="square" lIns="0" tIns="0" rIns="0" bIns="0" rtlCol="0" anchor="t"/>
          <a:lstStyle/>
          <a:p>
            <a:pPr indent="0" marL="0">
              <a:buNone/>
            </a:pPr>
            <a:r>
              <a:rPr lang="en-US" sz="1500" dirty="0">
                <a:solidFill>
                  <a:srgbClr val="5F6B7E"/>
                </a:solidFill>
                <a:latin typeface="Calibri" pitchFamily="34" charset="0"/>
                <a:ea typeface="Calibri" pitchFamily="34" charset="-122"/>
                <a:cs typeface="Calibri" pitchFamily="34" charset="-120"/>
              </a:rPr>
              <a:t>The link fills in the amount and invoice number. A QR code carries the same link. Swap yourname@bank for your own UPI ID, and record each payment once it arrives.</a:t>
            </a:r>
            <a:endParaRPr lang="en-US" sz="1500" dirty="0"/>
          </a:p>
        </p:txBody>
      </p:sp>
      <p:sp>
        <p:nvSpPr>
          <p:cNvPr id="20" name="Text 18"/>
          <p:cNvSpPr txBox="1"/>
          <p:nvPr/>
        </p:nvSpPr>
        <p:spPr>
          <a:xfrm>
            <a:off x="640080" y="6355080"/>
            <a:ext cx="10972800" cy="274320"/>
          </a:xfrm>
          <a:prstGeom prst="rect">
            <a:avLst/>
          </a:prstGeom>
          <a:noFill/>
          <a:ln/>
        </p:spPr>
        <p:txBody>
          <a:bodyPr wrap="square" lIns="0" tIns="0" rIns="0" bIns="0" rtlCol="0" anchor="ctr"/>
          <a:lstStyle/>
          <a:p>
            <a:pPr algn="r" indent="0" marL="0">
              <a:buNone/>
            </a:pPr>
            <a:r>
              <a:rPr lang="en-US" sz="1000" dirty="0">
                <a:solidFill>
                  <a:srgbClr val="5F6B7E"/>
                </a:solidFill>
                <a:latin typeface="Calibri" pitchFamily="34" charset="0"/>
                <a:ea typeface="Calibri" pitchFamily="34" charset="-122"/>
                <a:cs typeface="Calibri" pitchFamily="34" charset="-120"/>
              </a:rPr>
              <a:t>Ledgerly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274320"/>
          </a:xfrm>
          <a:prstGeom prst="rect">
            <a:avLst/>
          </a:prstGeom>
          <a:noFill/>
          <a:ln/>
        </p:spPr>
        <p:txBody>
          <a:bodyPr wrap="square" lIns="0" tIns="0" rIns="0" bIns="0" rtlCol="0" anchor="ctr"/>
          <a:lstStyle/>
          <a:p>
            <a:pPr indent="0" marL="0">
              <a:buNone/>
            </a:pPr>
            <a:r>
              <a:rPr lang="en-US" sz="1400" b="1" spc="200" kern="0" dirty="0">
                <a:solidFill>
                  <a:srgbClr val="315FBC"/>
                </a:solidFill>
                <a:latin typeface="Calibri" pitchFamily="34" charset="0"/>
                <a:ea typeface="Calibri" pitchFamily="34" charset="-122"/>
                <a:cs typeface="Calibri" pitchFamily="34" charset="-120"/>
              </a:rPr>
              <a:t>AI AND MARKETS</a:t>
            </a:r>
            <a:endParaRPr lang="en-US" sz="1400" dirty="0"/>
          </a:p>
        </p:txBody>
      </p:sp>
      <p:sp>
        <p:nvSpPr>
          <p:cNvPr id="3" name="Text 1"/>
          <p:cNvSpPr txBox="1"/>
          <p:nvPr/>
        </p:nvSpPr>
        <p:spPr>
          <a:xfrm>
            <a:off x="640080" y="777240"/>
            <a:ext cx="10972800" cy="822960"/>
          </a:xfrm>
          <a:prstGeom prst="rect">
            <a:avLst/>
          </a:prstGeom>
          <a:noFill/>
          <a:ln/>
        </p:spPr>
        <p:txBody>
          <a:bodyPr wrap="square" lIns="0" tIns="0" rIns="0" bIns="0" rtlCol="0" anchor="t"/>
          <a:lstStyle/>
          <a:p>
            <a:pPr indent="0" marL="0">
              <a:buNone/>
            </a:pPr>
            <a:r>
              <a:rPr lang="en-US" sz="3800" b="1" dirty="0">
                <a:solidFill>
                  <a:srgbClr val="1C2A40"/>
                </a:solidFill>
                <a:latin typeface="Cambria" pitchFamily="34" charset="0"/>
                <a:ea typeface="Cambria" pitchFamily="34" charset="-122"/>
                <a:cs typeface="Cambria" pitchFamily="34" charset="-120"/>
              </a:rPr>
              <a:t>Claude as a helper, and a listed-company watchlist</a:t>
            </a:r>
            <a:endParaRPr lang="en-US" sz="3800" dirty="0"/>
          </a:p>
        </p:txBody>
      </p:sp>
      <p:sp>
        <p:nvSpPr>
          <p:cNvPr id="4" name="Shape 2"/>
          <p:cNvSpPr/>
          <p:nvPr/>
        </p:nvSpPr>
        <p:spPr>
          <a:xfrm>
            <a:off x="640080" y="1920240"/>
            <a:ext cx="5394960" cy="4023360"/>
          </a:xfrm>
          <a:prstGeom prst="roundRect">
            <a:avLst>
              <a:gd name="adj" fmla="val 3409"/>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5" name="Text 3"/>
          <p:cNvSpPr txBox="1"/>
          <p:nvPr/>
        </p:nvSpPr>
        <p:spPr>
          <a:xfrm>
            <a:off x="1005840" y="2240280"/>
            <a:ext cx="4572000" cy="457200"/>
          </a:xfrm>
          <a:prstGeom prst="rect">
            <a:avLst/>
          </a:prstGeom>
          <a:noFill/>
          <a:ln/>
        </p:spPr>
        <p:txBody>
          <a:bodyPr wrap="square" lIns="0" tIns="0" rIns="0" bIns="0" rtlCol="0" anchor="t"/>
          <a:lstStyle/>
          <a:p>
            <a:pPr indent="0" marL="0">
              <a:buNone/>
            </a:pPr>
            <a:r>
              <a:rPr lang="en-US" sz="2200" b="1" dirty="0">
                <a:solidFill>
                  <a:srgbClr val="1C2A40"/>
                </a:solidFill>
                <a:latin typeface="Cambria" pitchFamily="34" charset="0"/>
                <a:ea typeface="Cambria" pitchFamily="34" charset="-122"/>
                <a:cs typeface="Cambria" pitchFamily="34" charset="-120"/>
              </a:rPr>
              <a:t>Claude, your assistant</a:t>
            </a:r>
            <a:endParaRPr lang="en-US" sz="2200" dirty="0"/>
          </a:p>
        </p:txBody>
      </p:sp>
      <p:sp>
        <p:nvSpPr>
          <p:cNvPr id="6" name="Text 4"/>
          <p:cNvSpPr txBox="1"/>
          <p:nvPr/>
        </p:nvSpPr>
        <p:spPr>
          <a:xfrm>
            <a:off x="1005840" y="2926080"/>
            <a:ext cx="475488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C2A40"/>
                </a:solidFill>
                <a:latin typeface="Calibri" pitchFamily="34" charset="0"/>
                <a:ea typeface="Calibri" pitchFamily="34" charset="-122"/>
                <a:cs typeface="Calibri" pitchFamily="34" charset="-120"/>
              </a:rPr>
              <a:t>Reads your invoices, balances and overdue days</a:t>
            </a:r>
            <a:endParaRPr lang="en-US" sz="1700" dirty="0"/>
          </a:p>
          <a:p>
            <a:pPr marL="342900" indent="-342900">
              <a:spcAft>
                <a:spcPts val="1000"/>
              </a:spcAft>
              <a:buSzPct val="100000"/>
              <a:buChar char="•"/>
            </a:pPr>
            <a:r>
              <a:rPr lang="en-US" sz="1700" dirty="0">
                <a:solidFill>
                  <a:srgbClr val="1C2A40"/>
                </a:solidFill>
                <a:latin typeface="Calibri" pitchFamily="34" charset="0"/>
                <a:ea typeface="Calibri" pitchFamily="34" charset="-122"/>
                <a:cs typeface="Calibri" pitchFamily="34" charset="-120"/>
              </a:rPr>
              <a:t>Answers questions like "Who should I call first?"</a:t>
            </a:r>
            <a:endParaRPr lang="en-US" sz="1700" dirty="0"/>
          </a:p>
          <a:p>
            <a:pPr marL="342900" indent="-342900">
              <a:spcAft>
                <a:spcPts val="1000"/>
              </a:spcAft>
              <a:buSzPct val="100000"/>
              <a:buChar char="•"/>
            </a:pPr>
            <a:r>
              <a:rPr lang="en-US" sz="1700" dirty="0">
                <a:solidFill>
                  <a:srgbClr val="1C2A40"/>
                </a:solidFill>
                <a:latin typeface="Calibri" pitchFamily="34" charset="0"/>
                <a:ea typeface="Calibri" pitchFamily="34" charset="-122"/>
                <a:cs typeface="Calibri" pitchFamily="34" charset="-120"/>
              </a:rPr>
              <a:t>Drafts friendly, polite or firm reminders to review</a:t>
            </a:r>
            <a:endParaRPr lang="en-US" sz="1700" dirty="0"/>
          </a:p>
          <a:p>
            <a:pPr marL="342900" indent="-342900">
              <a:spcAft>
                <a:spcPts val="1000"/>
              </a:spcAft>
              <a:buSzPct val="100000"/>
              <a:buChar char="•"/>
            </a:pPr>
            <a:r>
              <a:rPr lang="en-US" sz="1700" dirty="0">
                <a:solidFill>
                  <a:srgbClr val="1C2A40"/>
                </a:solidFill>
                <a:latin typeface="Calibri" pitchFamily="34" charset="0"/>
                <a:ea typeface="Calibri" pitchFamily="34" charset="-122"/>
                <a:cs typeface="Calibri" pitchFamily="34" charset="-120"/>
              </a:rPr>
              <a:t>Never sends messages or changes records</a:t>
            </a:r>
            <a:endParaRPr lang="en-US" sz="1700" dirty="0"/>
          </a:p>
        </p:txBody>
      </p:sp>
      <p:sp>
        <p:nvSpPr>
          <p:cNvPr id="7" name="Shape 5"/>
          <p:cNvSpPr/>
          <p:nvPr/>
        </p:nvSpPr>
        <p:spPr>
          <a:xfrm>
            <a:off x="6309360" y="1920240"/>
            <a:ext cx="5394960" cy="4023360"/>
          </a:xfrm>
          <a:prstGeom prst="roundRect">
            <a:avLst>
              <a:gd name="adj" fmla="val 3409"/>
            </a:avLst>
          </a:prstGeom>
          <a:solidFill>
            <a:srgbClr val="FFFFFF"/>
          </a:solidFill>
          <a:ln w="9525">
            <a:solidFill>
              <a:srgbClr val="DDE3EC"/>
            </a:solidFill>
            <a:prstDash val="solid"/>
          </a:ln>
          <a:effectLst>
            <a:outerShdw sx="100000" sy="100000" kx="0" ky="0" algn="bl" rotWithShape="0" blurRad="152400" dist="38100" dir="5400000">
              <a:srgbClr val="1C2A40">
                <a:alpha val="10000"/>
              </a:srgbClr>
            </a:outerShdw>
          </a:effectLst>
        </p:spPr>
      </p:sp>
      <p:sp>
        <p:nvSpPr>
          <p:cNvPr id="8" name="Text 6"/>
          <p:cNvSpPr txBox="1"/>
          <p:nvPr/>
        </p:nvSpPr>
        <p:spPr>
          <a:xfrm>
            <a:off x="6675120" y="2240280"/>
            <a:ext cx="4572000" cy="457200"/>
          </a:xfrm>
          <a:prstGeom prst="rect">
            <a:avLst/>
          </a:prstGeom>
          <a:noFill/>
          <a:ln/>
        </p:spPr>
        <p:txBody>
          <a:bodyPr wrap="square" lIns="0" tIns="0" rIns="0" bIns="0" rtlCol="0" anchor="t"/>
          <a:lstStyle/>
          <a:p>
            <a:pPr indent="0" marL="0">
              <a:buNone/>
            </a:pPr>
            <a:r>
              <a:rPr lang="en-US" sz="2200" b="1" dirty="0">
                <a:solidFill>
                  <a:srgbClr val="1C2A40"/>
                </a:solidFill>
                <a:latin typeface="Cambria" pitchFamily="34" charset="0"/>
                <a:ea typeface="Cambria" pitchFamily="34" charset="-122"/>
                <a:cs typeface="Cambria" pitchFamily="34" charset="-120"/>
              </a:rPr>
              <a:t>Stock exchanges</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75120" y="2926080"/>
          <a:ext cx="4663440" cy="914400"/>
        </p:xfrm>
        <a:graphic>
          <a:graphicData uri="http://schemas.openxmlformats.org/drawingml/2006/table">
            <a:tbl>
              <a:tblPr/>
              <a:tblGrid>
                <a:gridCol w="2377440"/>
                <a:gridCol w="1143000"/>
                <a:gridCol w="114300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Company</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C2A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NSE</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C2A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BSE</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C2A40"/>
                    </a:solidFill>
                  </a:tcPr>
                </a:tc>
              </a:tr>
              <a:tr h="384048">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Reliance Industries</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RELIANCE</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500325</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Tata Consultancy Services</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TCS</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532540</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Infosys</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INFY</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C2A40"/>
                          </a:solidFill>
                          <a:latin typeface="Calibri" pitchFamily="34" charset="0"/>
                          <a:ea typeface="Calibri" pitchFamily="34" charset="-122"/>
                          <a:cs typeface="Calibri" pitchFamily="34" charset="-120"/>
                        </a:rPr>
                        <a:t>500209</a:t>
                      </a:r>
                      <a:endParaRPr lang="en-US" sz="1400" dirty="0">
                        <a:latin typeface="Calibri" charset="0"/>
                        <a:ea typeface="Calibri" charset="0"/>
                        <a:cs typeface="Calibri" charset="0"/>
                      </a:endParaRPr>
                    </a:p>
                  </a:txBody>
                  <a:tcPr marL="54864" marR="54864" marT="54864" marB="54864"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675120" y="4572000"/>
            <a:ext cx="4754880" cy="1097280"/>
          </a:xfrm>
          <a:prstGeom prst="rect">
            <a:avLst/>
          </a:prstGeom>
          <a:noFill/>
          <a:ln/>
        </p:spPr>
        <p:txBody>
          <a:bodyPr wrap="square" lIns="0" tIns="0" rIns="0" bIns="0" rtlCol="0" anchor="t"/>
          <a:lstStyle/>
          <a:p>
            <a:pPr indent="0" marL="0">
              <a:buNone/>
            </a:pPr>
            <a:r>
              <a:rPr lang="en-US" sz="1400" dirty="0">
                <a:solidFill>
                  <a:srgbClr val="5F6B7E"/>
                </a:solidFill>
                <a:latin typeface="Calibri" pitchFamily="34" charset="0"/>
                <a:ea typeface="Calibri" pitchFamily="34" charset="-122"/>
                <a:cs typeface="Calibri" pitchFamily="34" charset="-120"/>
              </a:rPr>
              <a:t>Listed companies with NSE and BSE codes. Reference data for now. Live prices need a licensed feed.</a:t>
            </a:r>
            <a:endParaRPr lang="en-US" sz="1400" dirty="0"/>
          </a:p>
        </p:txBody>
      </p:sp>
      <p:sp>
        <p:nvSpPr>
          <p:cNvPr id="11" name="Text 8"/>
          <p:cNvSpPr txBox="1"/>
          <p:nvPr/>
        </p:nvSpPr>
        <p:spPr>
          <a:xfrm>
            <a:off x="640080" y="6355080"/>
            <a:ext cx="10972800" cy="274320"/>
          </a:xfrm>
          <a:prstGeom prst="rect">
            <a:avLst/>
          </a:prstGeom>
          <a:noFill/>
          <a:ln/>
        </p:spPr>
        <p:txBody>
          <a:bodyPr wrap="square" lIns="0" tIns="0" rIns="0" bIns="0" rtlCol="0" anchor="ctr"/>
          <a:lstStyle/>
          <a:p>
            <a:pPr algn="r" indent="0" marL="0">
              <a:buNone/>
            </a:pPr>
            <a:r>
              <a:rPr lang="en-US" sz="1000" dirty="0">
                <a:solidFill>
                  <a:srgbClr val="5F6B7E"/>
                </a:solidFill>
                <a:latin typeface="Calibri" pitchFamily="34" charset="0"/>
                <a:ea typeface="Calibri" pitchFamily="34" charset="-122"/>
                <a:cs typeface="Calibri" pitchFamily="34" charset="-120"/>
              </a:rPr>
              <a:t>Ledgerly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mnt/user-data/outputs/ledgerly-icon.png">    </p:cNvPr>
          <p:cNvPicPr>
            <a:picLocks noChangeAspect="1"/>
          </p:cNvPicPr>
          <p:nvPr/>
        </p:nvPicPr>
        <p:blipFill>
          <a:blip r:embed="rId2"/>
          <a:stretch>
            <a:fillRect/>
          </a:stretch>
        </p:blipFill>
        <p:spPr>
          <a:xfrm>
            <a:off x="822960" y="1554480"/>
            <a:ext cx="1280160" cy="1280160"/>
          </a:xfrm>
          <a:prstGeom prst="rect">
            <a:avLst/>
          </a:prstGeom>
        </p:spPr>
      </p:pic>
      <p:sp>
        <p:nvSpPr>
          <p:cNvPr id="3" name="Text 0"/>
          <p:cNvSpPr txBox="1"/>
          <p:nvPr/>
        </p:nvSpPr>
        <p:spPr>
          <a:xfrm>
            <a:off x="822960" y="3063240"/>
            <a:ext cx="100584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Thank you</a:t>
            </a:r>
            <a:endParaRPr lang="en-US" sz="6600" dirty="0"/>
          </a:p>
        </p:txBody>
      </p:sp>
      <p:sp>
        <p:nvSpPr>
          <p:cNvPr id="4" name="Text 1"/>
          <p:cNvSpPr txBox="1"/>
          <p:nvPr/>
        </p:nvSpPr>
        <p:spPr>
          <a:xfrm>
            <a:off x="822960" y="4251960"/>
            <a:ext cx="10058400" cy="457200"/>
          </a:xfrm>
          <a:prstGeom prst="rect">
            <a:avLst/>
          </a:prstGeom>
          <a:noFill/>
          <a:ln/>
        </p:spPr>
        <p:txBody>
          <a:bodyPr wrap="square" lIns="0" tIns="0" rIns="0" bIns="0" rtlCol="0" anchor="t"/>
          <a:lstStyle/>
          <a:p>
            <a:pPr indent="0" marL="0">
              <a:buNone/>
            </a:pPr>
            <a:r>
              <a:rPr lang="en-US" sz="2400" dirty="0">
                <a:solidFill>
                  <a:srgbClr val="C9D6F2"/>
                </a:solidFill>
                <a:latin typeface="Calibri" pitchFamily="34" charset="0"/>
                <a:ea typeface="Calibri" pitchFamily="34" charset="-122"/>
                <a:cs typeface="Calibri" pitchFamily="34" charset="-120"/>
              </a:rPr>
              <a:t>Questions and feedback are very welcome.</a:t>
            </a:r>
            <a:endParaRPr lang="en-US" sz="2400" dirty="0"/>
          </a:p>
        </p:txBody>
      </p:sp>
      <p:sp>
        <p:nvSpPr>
          <p:cNvPr id="5" name="Shape 2"/>
          <p:cNvSpPr/>
          <p:nvPr/>
        </p:nvSpPr>
        <p:spPr>
          <a:xfrm>
            <a:off x="822960" y="5029200"/>
            <a:ext cx="6949440" cy="960120"/>
          </a:xfrm>
          <a:prstGeom prst="roundRect">
            <a:avLst>
              <a:gd name="adj" fmla="val 15238"/>
            </a:avLst>
          </a:prstGeom>
          <a:solidFill>
            <a:srgbClr val="FFFFFF">
              <a:alpha val="12000"/>
            </a:srgbClr>
          </a:solidFill>
          <a:ln w="9525">
            <a:solidFill>
              <a:srgbClr val="C9D6F2"/>
            </a:solidFill>
            <a:prstDash val="solid"/>
          </a:ln>
        </p:spPr>
      </p:sp>
      <p:sp>
        <p:nvSpPr>
          <p:cNvPr id="6" name="Text 3"/>
          <p:cNvSpPr txBox="1"/>
          <p:nvPr/>
        </p:nvSpPr>
        <p:spPr>
          <a:xfrm>
            <a:off x="1097280" y="5138928"/>
            <a:ext cx="6400800" cy="320040"/>
          </a:xfrm>
          <a:prstGeom prst="rect">
            <a:avLst/>
          </a:prstGeom>
          <a:noFill/>
          <a:ln/>
        </p:spPr>
        <p:txBody>
          <a:bodyPr wrap="square" lIns="0" tIns="0" rIns="0" bIns="0" rtlCol="0" anchor="t"/>
          <a:lstStyle/>
          <a:p>
            <a:pPr indent="0" marL="0">
              <a:buNone/>
            </a:pPr>
            <a:r>
              <a:rPr lang="en-US" sz="1400" b="1" dirty="0">
                <a:solidFill>
                  <a:srgbClr val="C9D6F2"/>
                </a:solidFill>
                <a:latin typeface="Calibri" pitchFamily="34" charset="0"/>
                <a:ea typeface="Calibri" pitchFamily="34" charset="-122"/>
                <a:cs typeface="Calibri" pitchFamily="34" charset="-120"/>
              </a:rPr>
              <a:t>Try the live demo</a:t>
            </a:r>
            <a:endParaRPr lang="en-US" sz="1400" dirty="0"/>
          </a:p>
        </p:txBody>
      </p:sp>
      <p:sp>
        <p:nvSpPr>
          <p:cNvPr id="7" name="Text 4"/>
          <p:cNvSpPr txBox="1"/>
          <p:nvPr/>
        </p:nvSpPr>
        <p:spPr>
          <a:xfrm>
            <a:off x="1097280" y="5504688"/>
            <a:ext cx="658368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claude.ai/artifact/DndCaiXBDwjaHRRtkxQN7X   ·   demo@ledgerly.test / demo123</a:t>
            </a:r>
            <a:endParaRPr lang="en-US" sz="1500" dirty="0"/>
          </a:p>
        </p:txBody>
      </p:sp>
    </p:spTree>
  </p:cSld>
  <p:clrMapOvr>
    <a:masterClrMapping/>
  </p:clrMapOvr>
</p:sld>
</file>

<file path=ppt/theme/theme1.xml><?xml version="1.0" encoding="utf-8"?>
<a:theme xmlns:a="http://schemas.openxmlformats.org/drawingml/2006/main" name="Ledgerly">
  <a:themeElements>
    <a:clrScheme name="Ledgerly">
      <a:dk1>
        <a:srgbClr val="1C2A40"/>
      </a:dk1>
      <a:lt1>
        <a:srgbClr val="FFFFFF"/>
      </a:lt1>
      <a:dk2>
        <a:srgbClr val="315FBC"/>
      </a:dk2>
      <a:lt2>
        <a:srgbClr val="F5F7FB"/>
      </a:lt2>
      <a:accent1>
        <a:srgbClr val="315FBC"/>
      </a:accent1>
      <a:accent2>
        <a:srgbClr val="43876E"/>
      </a:accent2>
      <a:accent3>
        <a:srgbClr val="A8742A"/>
      </a:accent3>
      <a:accent4>
        <a:srgbClr val="B4553B"/>
      </a:accent4>
      <a:accent5>
        <a:srgbClr val="5F6B7E"/>
      </a:accent5>
      <a:accent6>
        <a:srgbClr val="8FB0EA"/>
      </a:accent6>
      <a:hlink>
        <a:srgbClr val="315FBC"/>
      </a:hlink>
      <a:folHlink>
        <a:srgbClr val="5F6B7E"/>
      </a:folHlink>
    </a:clrScheme>
    <a:fontScheme name="Ledger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Ledgerly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Ledgerly - Hackathon Presentation</dc:title>
  <dc:subject>PptxGenJS Presentation</dc:subject>
  <dc:creator>PptxGenJS</dc:creator>
  <cp:lastModifiedBy>PptxGenJS</cp:lastModifiedBy>
  <cp:revision>1</cp:revision>
  <dcterms:created xsi:type="dcterms:W3CDTF">2026-10-24T21:38:12Z</dcterms:created>
  <dcterms:modified xsi:type="dcterms:W3CDTF">2026-10-24T21:38:12Z</dcterms:modified>
</cp:coreProperties>
</file>